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1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4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0539" y="176456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9352663" y="-454179"/>
            <a:ext cx="2552646" cy="3161899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9808651" y="-248441"/>
            <a:ext cx="1670704" cy="2750421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5" name="Shape 3"/>
          <p:cNvSpPr/>
          <p:nvPr/>
        </p:nvSpPr>
        <p:spPr>
          <a:xfrm>
            <a:off x="9518377" y="773076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blurRad="76200" dist="127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mnt/user-data/uploads/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032" y="886968"/>
            <a:ext cx="836127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648620" y="799692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8" name="Image 1" descr="/mnt/user-data/upload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464" y="886968"/>
            <a:ext cx="770291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TESA COHORT 6  —  AI ENGINEERING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274320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Application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4526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Applicant Profiles, Financial Patterns &amp; Loan Characteristics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02920" y="5623560"/>
            <a:ext cx="1280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292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 Bamigbele Oluwaseun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blurRad="76200" dist="127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Lending Challenge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463040"/>
            <a:ext cx="6263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lending institution wants to better understand its loan applicants and the types of loans they request.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24231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EXAMINES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2788920"/>
            <a:ext cx="6263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demographics and employment characteristics</a:t>
            </a:r>
            <a:endParaRPr lang="en-US" sz="1500" dirty="0"/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and coapplicant income</a:t>
            </a:r>
            <a:endParaRPr lang="en-US" sz="1500" dirty="0"/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</a:t>
            </a:r>
            <a:endParaRPr lang="en-US" sz="1500" dirty="0"/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loan amounts and repayment terms</a:t>
            </a:r>
            <a:endParaRPr lang="en-US" sz="1500" dirty="0"/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and property area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544068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factors together define the scope of the analysis.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452360" y="1463040"/>
            <a:ext cx="4236415" cy="4343400"/>
          </a:xfrm>
          <a:prstGeom prst="roundRect">
            <a:avLst>
              <a:gd name="adj" fmla="val 2590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10225735" y="640080"/>
            <a:ext cx="2011680" cy="20116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72400" y="1828800"/>
            <a:ext cx="35963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GOAL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0" y="2240280"/>
            <a:ext cx="359633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meaningful patterns that can support more structured loan assessment and loan-product planning.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772400" y="4754880"/>
            <a:ext cx="3596335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0" y="4937760"/>
            <a:ext cx="35963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7C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clearer view of applicant behavior today informs better lending decisions tomorrow.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blurRad="76200" dist="127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Working With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502920" y="1554480"/>
            <a:ext cx="2880360" cy="1554480"/>
          </a:xfrm>
          <a:prstGeom prst="roundRect">
            <a:avLst>
              <a:gd name="adj" fmla="val 5882"/>
            </a:avLst>
          </a:prstGeom>
          <a:solidFill>
            <a:srgbClr val="F3F5F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02920" y="1691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981</a:t>
            </a:r>
            <a:endParaRPr lang="en-US" sz="42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24231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Applications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703320" y="1554480"/>
            <a:ext cx="2880360" cy="1554480"/>
          </a:xfrm>
          <a:prstGeom prst="roundRect">
            <a:avLst>
              <a:gd name="adj" fmla="val 5882"/>
            </a:avLst>
          </a:prstGeom>
          <a:solidFill>
            <a:srgbClr val="F3F5F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703320" y="1691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24231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Recorded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" y="352044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5528" y="390906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51560" y="363016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Profile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886200" y="3630168"/>
            <a:ext cx="7619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 •  Marital status  •  Dependents  •  Education  •  Self-employment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4590288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95528" y="497890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051560" y="4700016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Information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3886200" y="4700016"/>
            <a:ext cx="7619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income  •  Coapplicant income  •  Loan amount  •  Loan term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02920" y="5660136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95528" y="60487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1051560" y="5769864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Context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3886200" y="5769864"/>
            <a:ext cx="7619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  •  Property area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blurRad="76200" dist="127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CLEANING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Data Analysis-Ready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dataset contained several quality issues that were addressed before analysis.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02920" y="2103120"/>
            <a:ext cx="5410048" cy="548640"/>
          </a:xfrm>
          <a:prstGeom prst="roundRect">
            <a:avLst>
              <a:gd name="adj" fmla="val 11667"/>
            </a:avLst>
          </a:prstGeom>
          <a:solidFill>
            <a:srgbClr val="F3F5F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31520" y="210312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in categorical and numerical fields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78728" y="2103120"/>
            <a:ext cx="5410048" cy="548640"/>
          </a:xfrm>
          <a:prstGeom prst="roundRect">
            <a:avLst>
              <a:gd name="adj" fmla="val 11667"/>
            </a:avLst>
          </a:prstGeom>
          <a:solidFill>
            <a:srgbClr val="F3F5F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210312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Gender values: m/Male and f/Female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2788920"/>
            <a:ext cx="5410048" cy="548640"/>
          </a:xfrm>
          <a:prstGeom prst="roundRect">
            <a:avLst>
              <a:gd name="adj" fmla="val 11667"/>
            </a:avLst>
          </a:prstGeom>
          <a:solidFill>
            <a:srgbClr val="F3F5FC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1520" y="278892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Property_Area spelling variations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78728" y="2788920"/>
            <a:ext cx="5410048" cy="548640"/>
          </a:xfrm>
          <a:prstGeom prst="roundRect">
            <a:avLst>
              <a:gd name="adj" fmla="val 11667"/>
            </a:avLst>
          </a:prstGeom>
          <a:solidFill>
            <a:srgbClr val="F3F5F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507328" y="278892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zero ApplicantIncome records investigated and retained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" y="3474720"/>
            <a:ext cx="5410048" cy="548640"/>
          </a:xfrm>
          <a:prstGeom prst="roundRect">
            <a:avLst>
              <a:gd name="adj" fmla="val 11667"/>
            </a:avLst>
          </a:prstGeom>
          <a:solidFill>
            <a:srgbClr val="F3F5F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31520" y="3474720"/>
            <a:ext cx="495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350-month loan term investigated and retained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02920" y="4434840"/>
            <a:ext cx="11185855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68680" y="4434840"/>
            <a:ext cx="1045433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principle: 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genuine inconsistencies without deleting potentially valid observations.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blurRad="76200" dist="127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PROFILE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Applying for Loans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26187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applicant population is not evenly distributed across demographic categories.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89992" y="1673352"/>
            <a:ext cx="2825496" cy="2258611"/>
          </a:xfrm>
          <a:prstGeom prst="roundRect">
            <a:avLst>
              <a:gd name="adj" fmla="val 32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0" name="Image 2" descr="charts/gender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20" y="1783080"/>
            <a:ext cx="2606040" cy="203915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252064" y="1673352"/>
            <a:ext cx="2825496" cy="2258611"/>
          </a:xfrm>
          <a:prstGeom prst="roundRect">
            <a:avLst>
              <a:gd name="adj" fmla="val 32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2" name="Image 3" descr="charts/education_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1792" y="1783080"/>
            <a:ext cx="2606040" cy="203915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114136" y="1673352"/>
            <a:ext cx="2825496" cy="2258611"/>
          </a:xfrm>
          <a:prstGeom prst="roundRect">
            <a:avLst>
              <a:gd name="adj" fmla="val 32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4" name="Image 4" descr="charts/dependents_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864" y="1783080"/>
            <a:ext cx="2606040" cy="203915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976208" y="1673352"/>
            <a:ext cx="2825496" cy="2258611"/>
          </a:xfrm>
          <a:prstGeom prst="roundRect">
            <a:avLst>
              <a:gd name="adj" fmla="val 32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6" name="Image 5" descr="charts/property_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5936" y="1783080"/>
            <a:ext cx="2606040" cy="203915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02920" y="4279435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applicants form the larger group.</a:t>
            </a:r>
            <a:endParaRPr lang="en-US" sz="130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 applicants form the larger education group.</a:t>
            </a:r>
            <a:endParaRPr lang="en-US" sz="130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 with zero dependents are the largest dependent category.</a:t>
            </a:r>
            <a:endParaRPr lang="en-US" sz="130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contains Urban, Rural and Semiurban areas.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502920" y="5193835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characteristics establish the composition of the loan applicant population.</a:t>
            </a:r>
            <a:endParaRPr lang="en-US" sz="1250" dirty="0"/>
          </a:p>
        </p:txBody>
      </p:sp>
      <p:sp>
        <p:nvSpPr>
          <p:cNvPr id="19" name="Text 11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blurRad="76200" dist="127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PROFILE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Income, Loan Size &amp; Term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522580" y="1307592"/>
            <a:ext cx="3648456" cy="2632545"/>
          </a:xfrm>
          <a:prstGeom prst="roundRect">
            <a:avLst>
              <a:gd name="adj" fmla="val 277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9" name="Image 2" descr="charts/income_h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8" y="1417320"/>
            <a:ext cx="3429000" cy="2413089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271620" y="1307592"/>
            <a:ext cx="3648456" cy="2632545"/>
          </a:xfrm>
          <a:prstGeom prst="roundRect">
            <a:avLst>
              <a:gd name="adj" fmla="val 277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1" name="Image 3" descr="charts/loanamount_h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348" y="1417320"/>
            <a:ext cx="3429000" cy="2413089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020660" y="1307592"/>
            <a:ext cx="3648456" cy="2632545"/>
          </a:xfrm>
          <a:prstGeom prst="roundRect">
            <a:avLst>
              <a:gd name="adj" fmla="val 277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3" name="Image 4" descr="charts/loanterm_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0388" y="1417320"/>
            <a:ext cx="3429000" cy="2413089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02920" y="4287609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variables are unevenly distributed, with a small number of very high observations.</a:t>
            </a:r>
            <a:endParaRPr lang="en-US" sz="13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amounts are concentrated in a narrower range than income values.</a:t>
            </a:r>
            <a:endParaRPr lang="en-US" sz="13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360-month term is by far the most common repayment period.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502920" y="5247729"/>
            <a:ext cx="11185855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6" name="Text 9"/>
          <p:cNvSpPr txBox="1"/>
          <p:nvPr/>
        </p:nvSpPr>
        <p:spPr>
          <a:xfrm>
            <a:off x="777240" y="5247729"/>
            <a:ext cx="106372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implication: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averages alone may not fully represent the applicant population because extreme financial observations are present.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blurRad="76200" dist="127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 &amp; LOAN AMOUNT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Credit History Affect Loan Size?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393192" y="1490472"/>
            <a:ext cx="6620256" cy="3925768"/>
          </a:xfrm>
          <a:prstGeom prst="roundRect">
            <a:avLst>
              <a:gd name="adj" fmla="val 1863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9" name="Image 2" descr="charts/credit_box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600200"/>
            <a:ext cx="6400800" cy="370631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360920" y="1600200"/>
            <a:ext cx="43278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GB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median requested loan amount is almost identical whether an applicant has a credit history or not — 126 versus 126.5.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7360920" y="2788920"/>
            <a:ext cx="4327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GB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difference is in the tail: applicants with a confirmed credit history include noticeably more high-value outliers, up to 700.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7360920" y="4251960"/>
            <a:ext cx="4327855" cy="1417320"/>
          </a:xfrm>
          <a:prstGeom prst="roundRect">
            <a:avLst>
              <a:gd name="adj" fmla="val 6452"/>
            </a:avLst>
          </a:prstGeom>
          <a:solidFill>
            <a:srgbClr val="F3F5FC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7589520" y="4251960"/>
            <a:ext cx="387065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GB" sz="135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 is better suited to flagging unusually large requests than to predicting typical loan size.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blurRad="76200" dist="127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IN THE DATA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Variables Connect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522580" y="1353312"/>
            <a:ext cx="3648456" cy="3127853"/>
          </a:xfrm>
          <a:prstGeom prst="roundRect">
            <a:avLst>
              <a:gd name="adj" fmla="val 23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9" name="Image 2" descr="charts/income_vs_loan_scat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8" y="1463040"/>
            <a:ext cx="3429000" cy="290839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2308" y="4645757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Income ↔ Loan Amount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632308" y="4956653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GB" sz="11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moderate relationship (r = 0.55): income explains roughly 30% of the variation in loan amount — real, but partial.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271620" y="1353312"/>
            <a:ext cx="3648456" cy="3127853"/>
          </a:xfrm>
          <a:prstGeom prst="roundRect">
            <a:avLst>
              <a:gd name="adj" fmla="val 2339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3" name="Image 3" descr="charts/loanamount_by_property_boxpl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348" y="1463040"/>
            <a:ext cx="3429000" cy="290839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381348" y="4645757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Amount ↔ Property Area</a:t>
            </a:r>
            <a:endParaRPr lang="en-US" sz="1250" dirty="0"/>
          </a:p>
        </p:txBody>
      </p:sp>
      <p:sp>
        <p:nvSpPr>
          <p:cNvPr id="15" name="Text 9"/>
          <p:cNvSpPr txBox="1"/>
          <p:nvPr/>
        </p:nvSpPr>
        <p:spPr>
          <a:xfrm>
            <a:off x="4381348" y="4956653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GB" sz="11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Medians range narrowly (125–131.5 across areas)  a weak effect on its own.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020660" y="1353312"/>
            <a:ext cx="3648456" cy="3219456"/>
          </a:xfrm>
          <a:prstGeom prst="roundRect">
            <a:avLst>
              <a:gd name="adj" fmla="val 2272"/>
            </a:avLst>
          </a:prstGeom>
          <a:solidFill>
            <a:srgbClr val="FBFBFE"/>
          </a:solidFill>
          <a:ln w="12700">
            <a:solidFill>
              <a:srgbClr val="E7EAF5"/>
            </a:solidFill>
            <a:prstDash val="solid"/>
          </a:ln>
        </p:spPr>
      </p:sp>
      <p:pic>
        <p:nvPicPr>
          <p:cNvPr id="17" name="Image 4" descr="charts/corr_heat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0388" y="1463040"/>
            <a:ext cx="3429000" cy="30000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130388" y="47373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Correlations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8130388" y="504825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GB" sz="11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applicant and co-applicant income lifts the correlation to 0.60 still leaving most variation unexplained by income alone.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blurRad="76200" dist="127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502920" y="17693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02920" y="17693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280160" y="1600200"/>
            <a:ext cx="10408615" cy="841248"/>
          </a:xfrm>
          <a:prstGeom prst="roundRect">
            <a:avLst>
              <a:gd name="adj" fmla="val 8696"/>
            </a:avLst>
          </a:prstGeom>
          <a:solidFill>
            <a:srgbClr val="F3F5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554480" y="1600200"/>
            <a:ext cx="9905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income alone explains only about 30% of the variation in loan amount (r = 0.55) — a real but partial relationship.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02920" y="27386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02920" y="27386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280160" y="2569464"/>
            <a:ext cx="10408615" cy="841248"/>
          </a:xfrm>
          <a:prstGeom prst="roundRect">
            <a:avLst>
              <a:gd name="adj" fmla="val 8696"/>
            </a:avLst>
          </a:prstGeom>
          <a:solidFill>
            <a:srgbClr val="FBFBF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554480" y="2569464"/>
            <a:ext cx="9905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co-applicant income raises that to about 36% (r = 0.60) — most of the variation still comes from elsewhere.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02920" y="37078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2920" y="37078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280160" y="3538728"/>
            <a:ext cx="10408615" cy="841248"/>
          </a:xfrm>
          <a:prstGeom prst="roundRect">
            <a:avLst>
              <a:gd name="adj" fmla="val 8696"/>
            </a:avLst>
          </a:prstGeom>
          <a:solidFill>
            <a:srgbClr val="F3F5F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554480" y="3538728"/>
            <a:ext cx="9905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Self-employed applicants request notably larger loans: a median of 138 vs 126 for others, about 10% higher.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02920" y="46771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02920" y="46771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280160" y="4507992"/>
            <a:ext cx="10408615" cy="841248"/>
          </a:xfrm>
          <a:prstGeom prst="roundRect">
            <a:avLst>
              <a:gd name="adj" fmla="val 8696"/>
            </a:avLst>
          </a:prstGeom>
          <a:solidFill>
            <a:srgbClr val="FBFBF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1554480" y="4507992"/>
            <a:ext cx="9905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Graduates request modestly larger loans than non-graduates (median 130 vs 120, about 8% higher).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502920" y="56464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02920" y="5646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1280160" y="5477256"/>
            <a:ext cx="10408615" cy="841248"/>
          </a:xfrm>
          <a:prstGeom prst="roundRect">
            <a:avLst>
              <a:gd name="adj" fmla="val 8696"/>
            </a:avLst>
          </a:prstGeom>
          <a:solidFill>
            <a:srgbClr val="F3F5FC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554480" y="5477256"/>
            <a:ext cx="9905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 doesn't shift typical loan size, but it concentrates high-value outliers — useful for flagging, not for sizing.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blurRad="76200" dist="127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" name="Image 0" descr="/mnt/user-data/uploads/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5" name="Image 1" descr="/mnt/user-data/upload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DECISION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Insight Into Action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1280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5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multi-factor assessment approach rather than relying on income or credit history alone when reviewing loan applications.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965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2331720"/>
            <a:ext cx="5410048" cy="612648"/>
          </a:xfrm>
          <a:prstGeom prst="roundRect">
            <a:avLst>
              <a:gd name="adj" fmla="val 10448"/>
            </a:avLst>
          </a:prstGeom>
          <a:solidFill>
            <a:srgbClr val="F3F5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1520" y="2331720"/>
            <a:ext cx="49528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income + co-applicant income as indicators of financial capacity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78728" y="2331720"/>
            <a:ext cx="5410048" cy="612648"/>
          </a:xfrm>
          <a:prstGeom prst="roundRect">
            <a:avLst>
              <a:gd name="adj" fmla="val 10448"/>
            </a:avLst>
          </a:prstGeom>
          <a:solidFill>
            <a:srgbClr val="F3F5F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07328" y="2331720"/>
            <a:ext cx="49528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GB" sz="145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characteristics such as education and self-employment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02920" y="3108960"/>
            <a:ext cx="5410048" cy="612648"/>
          </a:xfrm>
          <a:prstGeom prst="roundRect">
            <a:avLst>
              <a:gd name="adj" fmla="val 10448"/>
            </a:avLst>
          </a:prstGeom>
          <a:solidFill>
            <a:srgbClr val="F3F5F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16432" y="3131820"/>
            <a:ext cx="49528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loan amount in relation to that financial capacity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278728" y="3108960"/>
            <a:ext cx="5410048" cy="612648"/>
          </a:xfrm>
          <a:prstGeom prst="roundRect">
            <a:avLst>
              <a:gd name="adj" fmla="val 10448"/>
            </a:avLst>
          </a:prstGeom>
          <a:solidFill>
            <a:srgbClr val="F3F5F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07328" y="3108960"/>
            <a:ext cx="49528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Property area as additional applicant context</a:t>
            </a:r>
          </a:p>
        </p:txBody>
      </p:sp>
      <p:sp>
        <p:nvSpPr>
          <p:cNvPr id="18" name="Shape 14"/>
          <p:cNvSpPr/>
          <p:nvPr/>
        </p:nvSpPr>
        <p:spPr>
          <a:xfrm>
            <a:off x="502920" y="3886200"/>
            <a:ext cx="5410048" cy="612648"/>
          </a:xfrm>
          <a:prstGeom prst="roundRect">
            <a:avLst>
              <a:gd name="adj" fmla="val 10448"/>
            </a:avLst>
          </a:prstGeom>
          <a:solidFill>
            <a:srgbClr val="F3F5F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31520" y="3886200"/>
            <a:ext cx="49528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4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 as a flag for applications with unusually large requests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502920" y="4937760"/>
            <a:ext cx="11185855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68680" y="4937760"/>
            <a:ext cx="1045433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GB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provides a meaningful but incomplete explanation of loan demand. The business should therefore combine financial, credit, and applicant characteristics when reviewing applications and identifying cases that may require additional assessment.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120640" cy="512064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357055" y="292608"/>
            <a:ext cx="23317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  <a:effectLst>
            <a:outerShdw blurRad="76200" dist="127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4" name="Image 0" descr="/mnt/user-data/uploads/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554" y="420624"/>
            <a:ext cx="836127" cy="219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55834" y="374904"/>
            <a:ext cx="0" cy="310896"/>
          </a:xfrm>
          <a:prstGeom prst="line">
            <a:avLst/>
          </a:prstGeom>
          <a:noFill/>
          <a:ln w="12700">
            <a:solidFill>
              <a:srgbClr val="DCE1F0"/>
            </a:solidFill>
            <a:prstDash val="solid"/>
          </a:ln>
        </p:spPr>
      </p:sp>
      <p:pic>
        <p:nvPicPr>
          <p:cNvPr id="6" name="Image 1" descr="/mnt/user-data/upload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86" y="420624"/>
            <a:ext cx="770291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TO DECISION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We Followed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502920" y="1965960"/>
            <a:ext cx="1981139" cy="2743200"/>
          </a:xfrm>
          <a:prstGeom prst="roundRect">
            <a:avLst>
              <a:gd name="adj" fmla="val 4154"/>
            </a:avLst>
          </a:prstGeom>
          <a:solidFill>
            <a:srgbClr val="232C6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2167128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67512" y="2505456"/>
            <a:ext cx="165195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applications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2484059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804099" y="1965960"/>
            <a:ext cx="1981139" cy="2743200"/>
          </a:xfrm>
          <a:prstGeom prst="roundRect">
            <a:avLst>
              <a:gd name="adj" fmla="val 4154"/>
            </a:avLst>
          </a:prstGeom>
          <a:solidFill>
            <a:srgbClr val="232C6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941259" y="2167128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941259" y="2523744"/>
            <a:ext cx="165195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categories, handled missing information, investigated unusual values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785238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105278" y="1965960"/>
            <a:ext cx="1981139" cy="2743200"/>
          </a:xfrm>
          <a:prstGeom prst="roundRect">
            <a:avLst>
              <a:gd name="adj" fmla="val 4154"/>
            </a:avLst>
          </a:prstGeom>
          <a:solidFill>
            <a:srgbClr val="232C6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242438" y="2167128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5269870" y="2537460"/>
            <a:ext cx="165195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profiles, financial distributions, relationships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086417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7406457" y="1965960"/>
            <a:ext cx="1981139" cy="2743200"/>
          </a:xfrm>
          <a:prstGeom prst="roundRect">
            <a:avLst>
              <a:gd name="adj" fmla="val 4154"/>
            </a:avLst>
          </a:prstGeom>
          <a:solidFill>
            <a:srgbClr val="232C63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543617" y="2167128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598481" y="2692908"/>
            <a:ext cx="165195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GB" sz="1100" dirty="0">
                <a:solidFill>
                  <a:srgbClr val="E4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has a moderate relationship with loan amount, while applicant characteristics and credit history provide additional context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387596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9707636" y="1965960"/>
            <a:ext cx="1981139" cy="2743200"/>
          </a:xfrm>
          <a:prstGeom prst="roundRect">
            <a:avLst>
              <a:gd name="adj" fmla="val 4154"/>
            </a:avLst>
          </a:prstGeom>
          <a:solidFill>
            <a:srgbClr val="232C63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9844796" y="2167128"/>
            <a:ext cx="1706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DECISION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9872228" y="2583180"/>
            <a:ext cx="165195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multiple data points to support structured loan assessment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02920" y="516636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500" i="1" dirty="0">
                <a:solidFill>
                  <a:srgbClr val="C7C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matters, but it doesn't explain the whole picture.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833</Words>
  <Application>Microsoft Office PowerPoint</Application>
  <PresentationFormat>Widescreen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Seun Bamigbele</cp:lastModifiedBy>
  <cp:revision>8</cp:revision>
  <dcterms:created xsi:type="dcterms:W3CDTF">2026-09-15T23:24:17Z</dcterms:created>
  <dcterms:modified xsi:type="dcterms:W3CDTF">2026-09-16T14:19:01Z</dcterms:modified>
</cp:coreProperties>
</file>