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194560"/>
            <a:ext cx="5669280" cy="56692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-1463040"/>
            <a:ext cx="4023360" cy="402336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5" name="Shape 3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8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TESA COHORT 6  —  AI ENGINEERING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74320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Application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526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Applicant Profiles, Financial Patterns &amp; Loan Characteristics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02920" y="5623560"/>
            <a:ext cx="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Bamigbele Oluwaseun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Lending Challenge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63040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lending institution wants to better understand its loan applicants and the types of loans they request.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2423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EXAMINES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788920"/>
            <a:ext cx="6263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demographics and employment characteristics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and coapplicant income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loan amounts and repayment terms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property area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544068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factors together define the scope of the analysis.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52360" y="146304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10225735" y="640080"/>
            <a:ext cx="2011680" cy="20116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0" y="1828800"/>
            <a:ext cx="35963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GOAL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2240280"/>
            <a:ext cx="35963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meaningful patterns that can support more structured loan assessment and loan-product planning.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772400" y="4754880"/>
            <a:ext cx="3596335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0" y="4937760"/>
            <a:ext cx="3596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clearer view of applicant behavior today informs better lending decisions tomorrow.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Working With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15544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F3F5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1691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Applications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703320" y="15544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F3F5F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703320" y="1691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Recorded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52044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5528" y="39090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" y="36301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886200" y="3630168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 •  Marital status  •  Dependents  •  Education  •  Self-employment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4590288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5528" y="497890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51560" y="470001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Information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886200" y="4700016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 •  Coapplicant income  •  Loan amount  •  Loan term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02920" y="5660136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95528" y="60487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51560" y="576986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Context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886200" y="5769864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 •  Property area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CLEANING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Analysis-Ready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dataset contained several quality issues that were addressed before analysis.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02920" y="21031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21031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in categorical and numerical fields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78728" y="21031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21031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Gender values: m/Male and f/Female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7889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7889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Property_Area spelling variations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78728" y="27889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07328" y="27889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zero ApplicantIncome records investigated and retained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34747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1520" y="34747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350-month loan term investigated and retained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78728" y="34747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07328" y="34747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records identified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" y="4434840"/>
            <a:ext cx="11185855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4434840"/>
            <a:ext cx="1045433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principle: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genuine inconsistencies without deleting potentially valid observations.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Applying for Loans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2618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applicant population is not evenly distributed across demographic categories.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89992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0" name="Image 2" descr="charts/gender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20" y="1783080"/>
            <a:ext cx="2606040" cy="203915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52064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2" name="Image 3" descr="charts/education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792" y="1783080"/>
            <a:ext cx="2606040" cy="203915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14136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4" name="Image 4" descr="charts/dependents_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64" y="1783080"/>
            <a:ext cx="2606040" cy="203915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976208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6" name="Image 5" descr="charts/property_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5936" y="1783080"/>
            <a:ext cx="2606040" cy="203915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02920" y="4279435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applicants form the larger group.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applicants form the larger education group.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with zero dependents are the largest dependent category.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contains Urban, Rural and Semiurban areas.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502920" y="5193835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characteristics establish the composition of the loan applicant population.</a:t>
            </a:r>
            <a:endParaRPr lang="en-US" sz="1250" dirty="0"/>
          </a:p>
        </p:txBody>
      </p:sp>
      <p:sp>
        <p:nvSpPr>
          <p:cNvPr id="19" name="Text 11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PROFILE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Income, Loan Size &amp; Term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2258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income_h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8" y="1417320"/>
            <a:ext cx="3429000" cy="241308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27162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1" name="Image 3" descr="charts/loanamount_h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48" y="1417320"/>
            <a:ext cx="3429000" cy="241308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2066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3" name="Image 4" descr="charts/loanterm_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388" y="1417320"/>
            <a:ext cx="3429000" cy="2413089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2920" y="4287609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variables are unevenly distributed, with a small number of very high observations.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amounts are concentrated in a narrower range than income values.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360-month term is by far the most common repayment period.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502920" y="5247729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777240" y="5247729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implication: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alone may not fully represent the applicant population because extreme financial observations are present.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&amp; LOAN AMOUNT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Credit History Affect Loan Size?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393192" y="1490472"/>
            <a:ext cx="6620256" cy="3925768"/>
          </a:xfrm>
          <a:prstGeom prst="roundRect">
            <a:avLst>
              <a:gd name="adj" fmla="val 1863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credit_boxpl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6400800" cy="37063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60920" y="1600200"/>
            <a:ext cx="43278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provides an important dimension for comparing requested loan amounts.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7360920" y="2788920"/>
            <a:ext cx="4327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boxplot shows that the distribution of requested loan amounts differs across credit-history categories.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7360920" y="4251960"/>
            <a:ext cx="4327855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7589520" y="4251960"/>
            <a:ext cx="38706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supports examining credit history together with financial variables rather than viewing loan amount in isolation.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IN THE DATA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Variables Connect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22580" y="1353312"/>
            <a:ext cx="3648456" cy="3127853"/>
          </a:xfrm>
          <a:prstGeom prst="roundRect">
            <a:avLst>
              <a:gd name="adj" fmla="val 23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income_vs_loan_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8" y="1463040"/>
            <a:ext cx="3429000" cy="290839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2308" y="464575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↔ Loan Amount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632308" y="4956653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Examines whether requested loan size changes with applicant income.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271620" y="1353312"/>
            <a:ext cx="3648456" cy="3127853"/>
          </a:xfrm>
          <a:prstGeom prst="roundRect">
            <a:avLst>
              <a:gd name="adj" fmla="val 23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3" name="Image 3" descr="charts/loanamount_by_property_boxpl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48" y="1463040"/>
            <a:ext cx="3429000" cy="290839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81348" y="464575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 ↔ Property Area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4381348" y="4956653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amounts show differences across Urban, Rural and Semiurban applicants.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20660" y="1353312"/>
            <a:ext cx="3648456" cy="3219456"/>
          </a:xfrm>
          <a:prstGeom prst="roundRect">
            <a:avLst>
              <a:gd name="adj" fmla="val 2272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7" name="Image 4" descr="charts/corr_heat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388" y="1463040"/>
            <a:ext cx="3429000" cy="30000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130388" y="4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Correlations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8130388" y="504825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view of relationships among numerical financial variables.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17693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17693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280160" y="1600200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554480" y="1600200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profiles are concentrated in particular demographic categories.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02920" y="27386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02920" y="27386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280160" y="2569464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BFBF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2569464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distributions contain substantial variation and extreme observations.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02920" y="37078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7078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280160" y="3538728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554480" y="3538728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loan amounts are more concentrated than income values.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02920" y="46771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02920" y="46771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280160" y="4507992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BFBF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554480" y="4507992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provides useful context for differences in loan-amount distributions.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02920" y="56464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02920" y="5646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280160" y="5477256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554480" y="5477256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characteristics and property area provide additional context for understanding loan demand.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Action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280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multiple applicant attributes together when structuring loan assessment and review.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965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233172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33172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78728" y="233172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07328" y="233172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Coapplicant income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10896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" y="310896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8728" y="310896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07328" y="310896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loan amount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388620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" y="388620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characteristics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78728" y="388620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07328" y="388620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area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" y="4937760"/>
            <a:ext cx="11185855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68680" y="4937760"/>
            <a:ext cx="1045433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can help the business understand common loan demand and identify applications that may require additional review.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12700" dir="5400000">
              <a:srgbClr val="1E2761">
                <a:alpha val="12000"/>
              </a:srgbClr>
            </a:outerShdw>
          </a:effectLst>
        </p:spPr>
      </p:sp>
      <p:pic>
        <p:nvPicPr>
          <p:cNvPr id="4" name="Image 0" descr="/mnt/user-data/upload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6" name="Image 1" descr="/mnt/user-data/upload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DECISION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We Followed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02920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67512" y="274320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applications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484059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804099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941259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68691" y="274320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categories, handled missing information, investigated unusual values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785238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05278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42438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269870" y="274320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profiles, financial distributions, relationships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086417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7406457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543617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571049" y="274320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applicant and loan patterns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387596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9707636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44796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9872228" y="274320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multiple data points to support structured loan assessment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51663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multiple data points to support structured loan assessment.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2026-09-15T23:24:17Z</dcterms:created>
  <dcterms:modified xsi:type="dcterms:W3CDTF">2026-09-15T23:24:17Z</dcterms:modified>
</cp:coreProperties>
</file>